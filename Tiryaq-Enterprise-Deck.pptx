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0"/>
            <a:ext cx="2560320" cy="6858000"/>
          </a:xfrm>
          <a:prstGeom prst="rect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0"/>
            <a:ext cx="7315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945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spc="1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TIRYAQ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Hospital Operations,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for Qatar and the GCC.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multi-tenant, AI-augmented Electronic Medical Record platform 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AWS, designed for PDPPL, MOPH and NCSA.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5852160"/>
            <a:ext cx="73152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5852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AKWADONA HEALTH SYSTEMS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6080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akwadona.com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operations are stuck on legacy infrastructure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TIRYAQ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7373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178308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spend 2 hours documenting for every 1 hour of care — burnout, attrition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24505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450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496312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EMRs (Epic, Cerner, NextGen) need million-dollar capex and 18-month rollouts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316382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163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209544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clinics lack compliant audit trails — PDPPL fines up to QAR 5,000,000 per violation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387705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877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922776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Multi-clinic groups cannot consolidate — every branch runs an isolated system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459028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590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600" y="463600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Pharmacy, billing, scheduling and clinical notes live in disconnected applications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85800" y="5303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71600" y="534924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regional platform purpose-built for Qatar/GCC frameworks (MOPH, PDPPL, NCSA NIA)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unified, serverless platform — built once, runs anywhere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TIRYAQ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5120640" cy="4297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9202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platform.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clinical workflow.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914400" y="32004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 servers to manage.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914400" y="42976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Tiryaq replaces fragmented hospital IT — clinical, operational, financial and pharmaceutical — with a single AWS-native platform that scales from a one-doctor clinic to nationwide networks.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26480" y="1737360"/>
            <a:ext cx="557784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data model — patients, doctors, pharmacy, billing, documents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on AWS — no servers, no upgrades, no datacenter contracts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Compliance-scaffolded for PDPPL, MOPH, NCSA NIA, KSA PDPL, UAE PDPL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ScribeFirst AI Voice Scribe — SOAP notes generated from conversation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a clinic in days; scale to a hospital group in weeks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for administrators, doctors, pharmacists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capabilities across the clinical workflow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TIRYAQ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737360"/>
            <a:ext cx="3657600" cy="219456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737360"/>
            <a:ext cx="73152" cy="2194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CLINICAL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51460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records, consultations with ICD-10/LOINC, e-prescribing, surgical history, signed exams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34840" y="1737360"/>
            <a:ext cx="3657600" cy="219456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2" name="Shape 10"/>
          <p:cNvSpPr/>
          <p:nvPr/>
        </p:nvSpPr>
        <p:spPr>
          <a:xfrm>
            <a:off x="4434840" y="1737360"/>
            <a:ext cx="73152" cy="2194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470916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OPERATIONAL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09160" y="251460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scheduling, doctor duty calendars, dedicated hospital calendar, real-time alerts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83880" y="1737360"/>
            <a:ext cx="3657600" cy="219456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6" name="Shape 14"/>
          <p:cNvSpPr/>
          <p:nvPr/>
        </p:nvSpPr>
        <p:spPr>
          <a:xfrm>
            <a:off x="8183880" y="1737360"/>
            <a:ext cx="73152" cy="2194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FINANCIAL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58200" y="251460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Invoicing with insurance coverage, payment tracking, multi-line billing items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4069080"/>
            <a:ext cx="3657600" cy="219456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4069080"/>
            <a:ext cx="73152" cy="2194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343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PHARMACY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48463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Catalog, batch-tracked inventory, dispensing with allergy guardrails, POs, expiry alerts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434840" y="4069080"/>
            <a:ext cx="3657600" cy="219456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24" name="Shape 22"/>
          <p:cNvSpPr/>
          <p:nvPr/>
        </p:nvSpPr>
        <p:spPr>
          <a:xfrm>
            <a:off x="4434840" y="4069080"/>
            <a:ext cx="73152" cy="2194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4343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AUGMENTATION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09160" y="48463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ScribeFirst voice transcription → automated SOAP via Amazon Bedrock Claude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83880" y="4069080"/>
            <a:ext cx="3657600" cy="219456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28" name="Shape 26"/>
          <p:cNvSpPr/>
          <p:nvPr/>
        </p:nvSpPr>
        <p:spPr>
          <a:xfrm>
            <a:off x="8183880" y="4069080"/>
            <a:ext cx="73152" cy="2194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8458200" y="4343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ADMINISTRATION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458200" y="4846320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lifecycle, immutable audit log, platform stats dashboard, documents w/ DICOM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decoupled, fully serverless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TIRYAQ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737360"/>
            <a:ext cx="356616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7373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EDGE &amp; PRESENTATION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377440"/>
            <a:ext cx="3566160" cy="365760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560320"/>
            <a:ext cx="32004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20 SPA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PrimeNG · Tailwind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(TLS 1.2+)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+ OAC (KMS CMK)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domain akwadona.com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34840" y="1737360"/>
            <a:ext cx="356616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17373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&amp; COMPUTE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34840" y="2377440"/>
            <a:ext cx="3566160" cy="365760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2560320"/>
            <a:ext cx="32004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HTTP API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authorizer (Cognito)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AWS Lambda functions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18/20/24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Pay-per-millisecond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83880" y="1737360"/>
            <a:ext cx="3566160" cy="640080"/>
          </a:xfrm>
          <a:prstGeom prst="rect">
            <a:avLst/>
          </a:prstGeom>
          <a:solidFill>
            <a:srgbClr val="141A47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7373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&amp; IDENTITY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83880" y="2377440"/>
            <a:ext cx="3566160" cy="365760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2560320"/>
            <a:ext cx="32004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single-table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Global Secondary Indexes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CMK encryption + PITR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User Pool + RBAC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(Claude)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Production-grade, future-proof, fully managed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TIRYAQ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783080"/>
            <a:ext cx="2011680" cy="4389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78308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34640" y="178308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20 (standalone, signals) · PrimeNG 20 · Tailwind CSS · FullCalendar · OIDC client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313432"/>
            <a:ext cx="2011680" cy="4389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31343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34640" y="2313432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Lambda · Node.js 18/20/24 · AWS SDK v3 · CommonJS modules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2843784"/>
            <a:ext cx="2011680" cy="4389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843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2843784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API Gateway HTTP API · JWT authorizer · CORS allow-list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374136"/>
            <a:ext cx="2011680" cy="4389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37413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34640" y="3374136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DynamoDB (single-table, 7 GSIs) · PAY_PER_REQUEST · point-in-time recovery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3904488"/>
            <a:ext cx="2011680" cy="4389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90448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/ ML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834640" y="390448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(Anthropic Claude Haiku) · Transcribe Medical (roadmap)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4434840"/>
            <a:ext cx="2011680" cy="4389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43484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INFRA AS CODE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834640" y="443484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CDK v2 (TypeScript) · CloudFormation · bootstrap roles for compliant deploys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" y="4965192"/>
            <a:ext cx="2011680" cy="43891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96519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DEVOPS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834640" y="4965192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CodeBuild-compatible pipelines · Compress-Archive Lambda fast-iteration · CloudFront invalidation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AWS CLOUD DEPLOYMENT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Scalable, secure, production-ready AWS design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TIRYAQ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18288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· Admin · Pharmacist · Patient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3017520"/>
            <a:ext cx="18288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108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CLOUDFRONT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4747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1.2+ · Edge cache · ACM SSL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" y="4206240"/>
            <a:ext cx="1828800" cy="914400"/>
          </a:xfrm>
          <a:prstGeom prst="rect">
            <a:avLst/>
          </a:prstGeom>
          <a:solidFill>
            <a:srgbClr val="141A47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297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S3 FRONTEND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6634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SPA · KMS CMK · OAC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08960" y="1828800"/>
            <a:ext cx="22860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3246120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 GATEWAY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46120" y="2286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API · JWT authorizer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108960" y="3017520"/>
            <a:ext cx="2286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3246120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COGNITO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46120" y="3474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Pool · Pre-token Lambda · 4 groups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108960" y="4206240"/>
            <a:ext cx="2286000" cy="914400"/>
          </a:xfrm>
          <a:prstGeom prst="rect">
            <a:avLst/>
          </a:prstGeom>
          <a:solidFill>
            <a:srgbClr val="141A47"/>
          </a:solidFill>
          <a:ln/>
        </p:spPr>
      </p:sp>
      <p:sp>
        <p:nvSpPr>
          <p:cNvPr id="23" name="Text 21"/>
          <p:cNvSpPr/>
          <p:nvPr/>
        </p:nvSpPr>
        <p:spPr>
          <a:xfrm>
            <a:off x="3246120" y="4297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 LAMBDAS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46120" y="4663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· Doctors · Pharmacy · Scribe …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989320" y="1828800"/>
            <a:ext cx="2286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1920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DYNAMODB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26480" y="22860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· 7 GSIs · CMK · PITR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89320" y="3017520"/>
            <a:ext cx="22860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6126480" y="3108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BEDROCK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26480" y="34747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· scoped IAM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989320" y="4206240"/>
            <a:ext cx="2286000" cy="914400"/>
          </a:xfrm>
          <a:prstGeom prst="rect">
            <a:avLst/>
          </a:prstGeom>
          <a:solidFill>
            <a:srgbClr val="141A47"/>
          </a:solidFill>
          <a:ln/>
        </p:spPr>
      </p:sp>
      <p:sp>
        <p:nvSpPr>
          <p:cNvPr id="32" name="Text 30"/>
          <p:cNvSpPr/>
          <p:nvPr/>
        </p:nvSpPr>
        <p:spPr>
          <a:xfrm>
            <a:off x="6126480" y="42976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KMS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26480" y="4663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CMKs — data &amp; audit segregated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869680" y="1828800"/>
            <a:ext cx="2743200" cy="914400"/>
          </a:xfrm>
          <a:prstGeom prst="rect">
            <a:avLst/>
          </a:prstGeom>
          <a:solidFill>
            <a:srgbClr val="141A47"/>
          </a:solidFill>
          <a:ln/>
        </p:spPr>
      </p:sp>
      <p:sp>
        <p:nvSpPr>
          <p:cNvPr id="35" name="Text 33"/>
          <p:cNvSpPr/>
          <p:nvPr/>
        </p:nvSpPr>
        <p:spPr>
          <a:xfrm>
            <a:off x="9006840" y="1920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CLOUDTRAIL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006840" y="22860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Multi-region · file validation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869680" y="3017520"/>
            <a:ext cx="27432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8" name="Text 36"/>
          <p:cNvSpPr/>
          <p:nvPr/>
        </p:nvSpPr>
        <p:spPr>
          <a:xfrm>
            <a:off x="9006840" y="31089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S3 AUDIT BUCKET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006840" y="3474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Lock 7y · audit CMK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869680" y="4206240"/>
            <a:ext cx="27432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9006840" y="42976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S3 ACCESS LOGS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006840" y="4663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+ S3 access logs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85800" y="5486400"/>
            <a:ext cx="10972800" cy="77724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44" name="Shape 42"/>
          <p:cNvSpPr/>
          <p:nvPr/>
        </p:nvSpPr>
        <p:spPr>
          <a:xfrm>
            <a:off x="685800" y="5486400"/>
            <a:ext cx="73152" cy="7772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5" name="Text 43"/>
          <p:cNvSpPr/>
          <p:nvPr/>
        </p:nvSpPr>
        <p:spPr>
          <a:xfrm>
            <a:off x="914400" y="55778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target region: me-south-1 (Bahrain) for PDPPL data residency. Current dev region: us-east-1 for AI service availability.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MODULES — PART 1 OF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modules — explained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TIRYAQ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737360"/>
            <a:ext cx="3657600" cy="420624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737360"/>
            <a:ext cx="36576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737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PATIENT MANAGEMENT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423160"/>
            <a:ext cx="32004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19-field record: demographics, history, allergies, medications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QID &amp; phone uniqueness enforced via DynamoDB transactional locks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Soft-delete with admin-only restore — preserves continuity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Doctor-scoped patient lists for clinical isolation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1737360"/>
            <a:ext cx="3657600" cy="420624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2" name="Shape 10"/>
          <p:cNvSpPr/>
          <p:nvPr/>
        </p:nvSpPr>
        <p:spPr>
          <a:xfrm>
            <a:off x="4434840" y="1737360"/>
            <a:ext cx="36576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1737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DOCTOR MANAGEMENT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2423160"/>
            <a:ext cx="32004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HR-grade profiles: license, specialization, duty calendar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@tiryaq.com email enforcement, duty-day scheduling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calendar — duty shifts 3 months forward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QID + phone uniqueness locks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83880" y="1737360"/>
            <a:ext cx="3657600" cy="420624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6" name="Shape 14"/>
          <p:cNvSpPr/>
          <p:nvPr/>
        </p:nvSpPr>
        <p:spPr>
          <a:xfrm>
            <a:off x="8183880" y="1737360"/>
            <a:ext cx="36576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1737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APPOINTMENTS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0" y="2423160"/>
            <a:ext cx="32004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visit types × 3 priorities × 6 statuses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/ check-out timestamps + encounter linking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complaint captured at intake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timeline aggregated by hospital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MODULES — PART 2 OF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modules — explained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TIRYAQ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737360"/>
            <a:ext cx="3657600" cy="420624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737360"/>
            <a:ext cx="36576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737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CONSULTATIONS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423160"/>
            <a:ext cx="32004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capture — chief complaint, ROS, vitals, exam, A/P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ICD-10 + LOINC code lookups embedded in form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workflow with cryptographic audit per change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appointments, prescriptions, invoices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1737360"/>
            <a:ext cx="3657600" cy="420624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2" name="Shape 10"/>
          <p:cNvSpPr/>
          <p:nvPr/>
        </p:nvSpPr>
        <p:spPr>
          <a:xfrm>
            <a:off x="4434840" y="1737360"/>
            <a:ext cx="36576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1737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PHARMACY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2423160"/>
            <a:ext cx="32004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w/ reorder thresholds + Rx requirements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Batch-tracked inventory · FIFO dispensing · expiry monitoring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Allergy interaction check at dispensing time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 lifecycle: draft → submitted → received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83880" y="1737360"/>
            <a:ext cx="3657600" cy="420624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6" name="Shape 14"/>
          <p:cNvSpPr/>
          <p:nvPr/>
        </p:nvSpPr>
        <p:spPr>
          <a:xfrm>
            <a:off x="8183880" y="1737360"/>
            <a:ext cx="36576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1737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SCRIBEFIRST (AI)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0" y="2423160"/>
            <a:ext cx="32004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(shipped): live transcription → Bedrock SOAP draft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reviews, edits, approves with hash-pinned audit row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2–4 designed: ICD-10 suggest, Rx draft, referral letters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PHI-classified, retention-tagged, region-locked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CORE MODULES — PART 3 OF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modules — explained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TIRYAQ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737360"/>
            <a:ext cx="3657600" cy="420624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737360"/>
            <a:ext cx="36576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737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INVOICING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423160"/>
            <a:ext cx="32004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Multi-line itemized invoices w/ insurance coverage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Patient-owes computation, due-date tracking, statuses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appointments and consultations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/ paid / partial / overdue states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1737360"/>
            <a:ext cx="3657600" cy="420624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2" name="Shape 10"/>
          <p:cNvSpPr/>
          <p:nvPr/>
        </p:nvSpPr>
        <p:spPr>
          <a:xfrm>
            <a:off x="4434840" y="1737360"/>
            <a:ext cx="36576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1737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DOCUMENTS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2423160"/>
            <a:ext cx="32004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Pre-signed S3 URLs — secure upload + download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Whitelisted folders: doctors, patients, labs, Rx, radiology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DICOM-aware MIME validation · 50 MB per file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Per-folder access scoped by role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83880" y="1737360"/>
            <a:ext cx="3657600" cy="420624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6" name="Shape 14"/>
          <p:cNvSpPr/>
          <p:nvPr/>
        </p:nvSpPr>
        <p:spPr>
          <a:xfrm>
            <a:off x="8183880" y="1737360"/>
            <a:ext cx="36576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1737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ADMINISTRATION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0" y="2423160"/>
            <a:ext cx="32004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lifecycle — disable, enable, reset password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stats: patient/doctor/exam/invoice counts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audit log — actor, entity, action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+ permission management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 &amp; COMPLIANCE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for PDPPL · MOPH · NCSA NIA · GCC frameworks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TIRYAQ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783080"/>
            <a:ext cx="1828800" cy="43891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78308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51760" y="1783080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12-char password policy · threat protection FULL_FUNCTION · device tracking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85800" y="2313432"/>
            <a:ext cx="1828800" cy="43891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31343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JWT RBAC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1760" y="2313432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Group-based access enforced at API Gateway + Lambda layers · 4 Cognito groups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2843784"/>
            <a:ext cx="1828800" cy="43891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84378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TLS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51760" y="2843784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1.2+ end-to-end · CloudFront enforces HTTPS · API Gateway default TLS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3374136"/>
            <a:ext cx="1828800" cy="43891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37413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KMS CMK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51760" y="3374136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Customer-managed keys · separated data + audit chains · annual rotation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3904488"/>
            <a:ext cx="1828800" cy="43891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90448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AUDIT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51760" y="3904488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 + app audit → S3 Object Lock 7y · file-validation · log-bucket segregation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" y="4434840"/>
            <a:ext cx="1828800" cy="43891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4348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CLASS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51760" y="4434840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tagged PHI / PII / PUBLIC / AUDIT / SYSTEM · breach scoping GSI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" y="4965192"/>
            <a:ext cx="1828800" cy="43891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96519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RESIDENCY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51760" y="4965192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target me-south-1 (Bahrain) · PHI never leaves GCC jurisdiction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SCALABILITY &amp; PERFORMANCE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scale from one clinic to nationwide networks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TIRYAQ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783080"/>
            <a:ext cx="3611880" cy="2057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783080"/>
            <a:ext cx="361188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05740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1,000+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868680" y="315468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Lambda executions per region (auto-scaled)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1783080"/>
            <a:ext cx="3611880" cy="2057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Shape 10"/>
          <p:cNvSpPr/>
          <p:nvPr/>
        </p:nvSpPr>
        <p:spPr>
          <a:xfrm>
            <a:off x="4434840" y="1783080"/>
            <a:ext cx="361188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205740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10,000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4617720" y="315468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requests / second sustained (5,000 burst)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83880" y="1783080"/>
            <a:ext cx="3611880" cy="2057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Shape 14"/>
          <p:cNvSpPr/>
          <p:nvPr/>
        </p:nvSpPr>
        <p:spPr>
          <a:xfrm>
            <a:off x="8183880" y="1783080"/>
            <a:ext cx="361188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205740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ms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8366760" y="315468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Single-digit-millisecond DynamoDB reads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023360"/>
            <a:ext cx="3611880" cy="2057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4023360"/>
            <a:ext cx="361188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29768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400+</a:t>
            </a:r>
            <a:endParaRPr lang="en-US" sz="6000" dirty="0"/>
          </a:p>
        </p:txBody>
      </p:sp>
      <p:sp>
        <p:nvSpPr>
          <p:cNvPr id="22" name="Text 20"/>
          <p:cNvSpPr/>
          <p:nvPr/>
        </p:nvSpPr>
        <p:spPr>
          <a:xfrm>
            <a:off x="868680" y="539496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edge POPs globally for static assets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34840" y="4023360"/>
            <a:ext cx="3611880" cy="2057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Shape 22"/>
          <p:cNvSpPr/>
          <p:nvPr/>
        </p:nvSpPr>
        <p:spPr>
          <a:xfrm>
            <a:off x="4434840" y="4023360"/>
            <a:ext cx="361188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4617720" y="429768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38</a:t>
            </a:r>
            <a:endParaRPr lang="en-US" sz="6000" dirty="0"/>
          </a:p>
        </p:txBody>
      </p:sp>
      <p:sp>
        <p:nvSpPr>
          <p:cNvPr id="26" name="Text 24"/>
          <p:cNvSpPr/>
          <p:nvPr/>
        </p:nvSpPr>
        <p:spPr>
          <a:xfrm>
            <a:off x="4617720" y="539496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deployable microservice Lambdas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83880" y="4023360"/>
            <a:ext cx="3611880" cy="2057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Shape 26"/>
          <p:cNvSpPr/>
          <p:nvPr/>
        </p:nvSpPr>
        <p:spPr>
          <a:xfrm>
            <a:off x="8183880" y="4023360"/>
            <a:ext cx="361188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8366760" y="429768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6000" dirty="0"/>
          </a:p>
        </p:txBody>
      </p:sp>
      <p:sp>
        <p:nvSpPr>
          <p:cNvPr id="30" name="Text 28"/>
          <p:cNvSpPr/>
          <p:nvPr/>
        </p:nvSpPr>
        <p:spPr>
          <a:xfrm>
            <a:off x="8366760" y="5394960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to patch or capacity-plan (fully serverless)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INTEGRATION CAPABILITIES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API-first — plug into the systems hospitals already run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TIRYAQ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82880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1783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REST API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178308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exposed as HTTPS JSON behind a single API Gateway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23774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34440" y="2331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FHIR (Roadmap)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0" y="233172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Patient, Encounter, Observation, MedicationRequest mappings ready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29260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2880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HL7 v2 Bridge (Roadmap)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288036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hospital connectivity — HMC, Malaffi, NABIDH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347472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34440" y="34290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Identity Federation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342900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 + OIDC with hospital Active Directory / Azure AD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" y="402336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34440" y="3977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Outbound Webhooks (Roadmap)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0" y="39776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 → SNS → external CRM, ERP, accounting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5800" y="457200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4572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34440" y="4526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Bedrock Model Swap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0" y="452628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env variable — Claude, Titan, Cohere all supported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5800" y="51206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5120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234440" y="5074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Document Interop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0" y="507492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Pre-signed S3 URLs for lab interfaces, radiology PACS handoff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USER ROLES &amp; ACCESS CONTROL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Role-based, JWT-enforced, audit-attributed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TIRYAQ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783080"/>
            <a:ext cx="2743200" cy="5303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78308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ADMINISTRATOR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0" y="178308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 access · user mgmt · audit visibility · configuration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423160"/>
            <a:ext cx="2743200" cy="5303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42316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66160" y="242316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patients · clinical docs · e-prescribing · voice-scribe access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063240"/>
            <a:ext cx="2743200" cy="530352"/>
          </a:xfrm>
          <a:prstGeom prst="rect">
            <a:avLst/>
          </a:prstGeom>
          <a:solidFill>
            <a:srgbClr val="141A47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06324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PHARMACIST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66160" y="306324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module · dispensing · inventory · no clinical record access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703320"/>
            <a:ext cx="2743200" cy="5303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70332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DEVELOPER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66160" y="370332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build/test access · isolated from production by default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4343400"/>
            <a:ext cx="2743200" cy="5303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34340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PATIENT (Roadmap)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66160" y="434340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portal · appointment booking · document download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5212080"/>
            <a:ext cx="10972800" cy="100584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" y="5212080"/>
            <a:ext cx="73152" cy="10058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5303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ENFORCEMENT STACK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5577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group → JWT claim → API Gateway authorizer → Lambda role check → DynamoDB row-level filter — every action attributed to a named principal, immutably stored for 7 years.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VALUE &amp; ROI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capex with predictable subscription cost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TIRYAQ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783080"/>
            <a:ext cx="2377440" cy="2194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574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868680" y="31546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on hardware, licenses, datacenters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783080"/>
            <a:ext cx="2377440" cy="2194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20574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3474720" y="31546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to onboard a clinic — vs 18 months for legacy EMRs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4206240"/>
            <a:ext cx="2377440" cy="2194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4805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2h</a:t>
            </a:r>
            <a:endParaRPr lang="en-US" sz="6400" dirty="0"/>
          </a:p>
        </p:txBody>
      </p:sp>
      <p:sp>
        <p:nvSpPr>
          <p:cNvPr id="15" name="Text 13"/>
          <p:cNvSpPr/>
          <p:nvPr/>
        </p:nvSpPr>
        <p:spPr>
          <a:xfrm>
            <a:off x="868680" y="55778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/clinician/day saved by ScribeFirst auto-SOAP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4206240"/>
            <a:ext cx="2377440" cy="2194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44805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$1</a:t>
            </a:r>
            <a:endParaRPr lang="en-US" sz="6400" dirty="0"/>
          </a:p>
        </p:txBody>
      </p:sp>
      <p:sp>
        <p:nvSpPr>
          <p:cNvPr id="18" name="Text 16"/>
          <p:cNvSpPr/>
          <p:nvPr/>
        </p:nvSpPr>
        <p:spPr>
          <a:xfrm>
            <a:off x="3474720" y="55778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/month at single-clinic scale on AWS Free Tier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1783080"/>
            <a:ext cx="54864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double-entry across scheduling, clinical, pharmacy, billing systems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 out of the box — saves ~200 person-hours per regulatory cycle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reimbursement — integrated invoicing reduces claim rejections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Pay-as-you-grow — costs scale linearly with patient volume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Frees clinical time → measurable burnout and retention improvement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 for executive reporting and operational analytics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COMPETITIVE ADVANTAGE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Tiryaq wins in Qatar and the GCC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TIRYAQ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737360"/>
            <a:ext cx="3657600" cy="502920"/>
          </a:xfrm>
          <a:prstGeom prst="rect">
            <a:avLst/>
          </a:prstGeom>
          <a:solidFill>
            <a:srgbClr val="141A4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737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DIMENSION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1737360"/>
            <a:ext cx="36576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737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LEGACY EMR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83880" y="1737360"/>
            <a:ext cx="365760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8366760" y="17373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TIRYAQ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2240280"/>
            <a:ext cx="3657600" cy="557784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240280"/>
            <a:ext cx="32918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34840" y="2240280"/>
            <a:ext cx="3657600" cy="557784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6" name="Text 14"/>
          <p:cNvSpPr/>
          <p:nvPr/>
        </p:nvSpPr>
        <p:spPr>
          <a:xfrm>
            <a:off x="4617720" y="2240280"/>
            <a:ext cx="32918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servers, 18-month rollout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83880" y="2240280"/>
            <a:ext cx="3657600" cy="557784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2240280"/>
            <a:ext cx="32918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Cloud-native, 3-day onboarding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2843784"/>
            <a:ext cx="3657600" cy="5577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2843784"/>
            <a:ext cx="32918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model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34840" y="2843784"/>
            <a:ext cx="3657600" cy="5577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2843784"/>
            <a:ext cx="32918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$1M+ capex + annual licensing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83880" y="2843784"/>
            <a:ext cx="3657600" cy="5577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366760" y="2843784"/>
            <a:ext cx="32918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Subscription, scales with usage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" y="3447288"/>
            <a:ext cx="3657600" cy="557784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3447288"/>
            <a:ext cx="32918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434840" y="3447288"/>
            <a:ext cx="3657600" cy="557784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28" name="Text 26"/>
          <p:cNvSpPr/>
          <p:nvPr/>
        </p:nvSpPr>
        <p:spPr>
          <a:xfrm>
            <a:off x="4617720" y="3447288"/>
            <a:ext cx="32918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mapping, post-hoc audits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83880" y="3447288"/>
            <a:ext cx="3657600" cy="557784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30" name="Text 28"/>
          <p:cNvSpPr/>
          <p:nvPr/>
        </p:nvSpPr>
        <p:spPr>
          <a:xfrm>
            <a:off x="8366760" y="3447288"/>
            <a:ext cx="32918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PDPPL/MOPH/NCSA scaffolded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85800" y="4050792"/>
            <a:ext cx="3657600" cy="5577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868680" y="4050792"/>
            <a:ext cx="32918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434840" y="4050792"/>
            <a:ext cx="3657600" cy="5577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4617720" y="4050792"/>
            <a:ext cx="32918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Bolt-on chatbot on existing forms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183880" y="4050792"/>
            <a:ext cx="3657600" cy="5577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8366760" y="4050792"/>
            <a:ext cx="32918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ScribeFirst: voice IS the input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5800" y="4654296"/>
            <a:ext cx="3657600" cy="557784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38" name="Text 36"/>
          <p:cNvSpPr/>
          <p:nvPr/>
        </p:nvSpPr>
        <p:spPr>
          <a:xfrm>
            <a:off x="868680" y="4654296"/>
            <a:ext cx="32918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434840" y="4654296"/>
            <a:ext cx="3657600" cy="557784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40" name="Text 38"/>
          <p:cNvSpPr/>
          <p:nvPr/>
        </p:nvSpPr>
        <p:spPr>
          <a:xfrm>
            <a:off x="4617720" y="4654296"/>
            <a:ext cx="32918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installs per clinic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8183880" y="4654296"/>
            <a:ext cx="3657600" cy="557784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42" name="Text 40"/>
          <p:cNvSpPr/>
          <p:nvPr/>
        </p:nvSpPr>
        <p:spPr>
          <a:xfrm>
            <a:off x="8366760" y="4654296"/>
            <a:ext cx="32918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platform, isolated tenants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85800" y="5257800"/>
            <a:ext cx="3657600" cy="5577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868680" y="5257800"/>
            <a:ext cx="32918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434840" y="5257800"/>
            <a:ext cx="3657600" cy="5577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4617720" y="5257800"/>
            <a:ext cx="32918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/ US datacenters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183880" y="5257800"/>
            <a:ext cx="3657600" cy="5577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8366760" y="5257800"/>
            <a:ext cx="32918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me-south-1 (Bahrain) within GCC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deployment scenarios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TIRYAQ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5486400" cy="132588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196596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63040" y="187452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Single-doctor private clinic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33172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paper-based scheduling, prescribing, and billing in one platform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55080" y="1691640"/>
            <a:ext cx="5486400" cy="132588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537960" y="196596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653796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32320" y="187452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Multi-specialty polyclinic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32320" y="233172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Unifies 5–50 clinicians + integrated pharmacy + consolidated billing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3200400"/>
            <a:ext cx="5486400" cy="132588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347472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63040" y="338328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group, multiple branches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63040" y="384048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admin, branch-level role scoping, group-wide reporting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55080" y="3200400"/>
            <a:ext cx="5486400" cy="132588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23" name="Shape 21"/>
          <p:cNvSpPr/>
          <p:nvPr/>
        </p:nvSpPr>
        <p:spPr>
          <a:xfrm>
            <a:off x="6537960" y="347472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6537960" y="3474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32320" y="338328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Telehealth-first practice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32320" y="384048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Voice-scribe enables 100% remote clinical documentation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5800" y="4709160"/>
            <a:ext cx="5486400" cy="132588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28" name="Shape 26"/>
          <p:cNvSpPr/>
          <p:nvPr/>
        </p:nvSpPr>
        <p:spPr>
          <a:xfrm>
            <a:off x="868680" y="498348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4983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463040" y="489204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chain w/ prescribing clinics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463040" y="534924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Cross-clinic dispensing through unified pharmacy module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355080" y="4709160"/>
            <a:ext cx="5486400" cy="132588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33" name="Shape 31"/>
          <p:cNvSpPr/>
          <p:nvPr/>
        </p:nvSpPr>
        <p:spPr>
          <a:xfrm>
            <a:off x="6537960" y="498348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4" name="Text 32"/>
          <p:cNvSpPr/>
          <p:nvPr/>
        </p:nvSpPr>
        <p:spPr>
          <a:xfrm>
            <a:off x="6537960" y="4983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132320" y="489204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tourism facility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32320" y="534924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UI roadmap + insurance-aware billing for international patients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5800" y="6217920"/>
            <a:ext cx="5486400" cy="132588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38" name="Shape 36"/>
          <p:cNvSpPr/>
          <p:nvPr/>
        </p:nvSpPr>
        <p:spPr>
          <a:xfrm>
            <a:off x="868680" y="649224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9" name="Text 37"/>
          <p:cNvSpPr/>
          <p:nvPr/>
        </p:nvSpPr>
        <p:spPr>
          <a:xfrm>
            <a:off x="868680" y="6492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463040" y="6400800"/>
            <a:ext cx="4526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health pilot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463040" y="6858000"/>
            <a:ext cx="4526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instance with national audit reporting via CloudTrail exports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IMPLEMENTATION 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delivery — value at every milestone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TIRYAQ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3840480"/>
            <a:ext cx="10972800" cy="73152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3694176"/>
            <a:ext cx="365760" cy="365760"/>
          </a:xfrm>
          <a:prstGeom prst="ellipse">
            <a:avLst/>
          </a:prstGeom>
          <a:solidFill>
            <a:srgbClr val="02809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" y="2194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platform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" y="2971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0" y="3694176"/>
            <a:ext cx="365760" cy="365760"/>
          </a:xfrm>
          <a:prstGeom prst="ellipse">
            <a:avLst/>
          </a:prstGeom>
          <a:solidFill>
            <a:srgbClr val="02809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4572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74520" y="4892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ScribeFirst Phase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74520" y="5349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2026-05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0" y="3694176"/>
            <a:ext cx="365760" cy="36576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3320" y="2194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0332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ICD-10 + tenancy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703320" y="2971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0" y="3694176"/>
            <a:ext cx="365760" cy="365760"/>
          </a:xfrm>
          <a:prstGeom prst="ellipse">
            <a:avLst/>
          </a:prstGeom>
          <a:solidFill>
            <a:srgbClr val="1E276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4572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32120" y="4892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vault + breach pipeline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32120" y="5349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46720" y="3694176"/>
            <a:ext cx="365760" cy="365760"/>
          </a:xfrm>
          <a:prstGeom prst="ellipse">
            <a:avLst/>
          </a:prstGeom>
          <a:solidFill>
            <a:srgbClr val="141A47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60920" y="2194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41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6092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hardening (WAF + MFA + VPC)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60920" y="29718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2027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875520" y="3694176"/>
            <a:ext cx="365760" cy="365760"/>
          </a:xfrm>
          <a:prstGeom prst="ellipse">
            <a:avLst/>
          </a:prstGeom>
          <a:solidFill>
            <a:srgbClr val="141A47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89720" y="45720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41A4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89720" y="4892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+ patient portal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89720" y="53492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SUPPORT &amp; MAINTENANCE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SLA with proactive operational hygiene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TIRYAQ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" y="1783080"/>
            <a:ext cx="2286000" cy="40233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78308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UPTIME SLA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08960" y="1783080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 monthly — backed by AWS managed-service SLAs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2258568"/>
            <a:ext cx="2286000" cy="40233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25856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MONITORING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108960" y="2258568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CloudWatch alarms — Lambda errors, API 5xx, DynamoDB throttling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2734056"/>
            <a:ext cx="2286000" cy="40233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73405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PATCH CADENCE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08960" y="2734056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runtime upgrades within 30 days of AWS deprecation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209544"/>
            <a:ext cx="2286000" cy="40233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20954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SECURITY REVIEW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108960" y="3209544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pen test · KMS rotation verification · IAM least-privilege audit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3685032"/>
            <a:ext cx="2286000" cy="40233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6850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COMPLIANCE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08960" y="3685032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CloudTrail + audit retention — no manual archival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" y="4160520"/>
            <a:ext cx="2286000" cy="40233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16052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CUSTOMER SUCCESS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108960" y="4160520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health-check reports · quarterly business reviews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" y="4636008"/>
            <a:ext cx="2286000" cy="40233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63600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INCIDENT RESPONSE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108960" y="4636008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 acknowledgment · 4h mitigation for severity-1 PHI events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5800" y="5111496"/>
            <a:ext cx="2286000" cy="40233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511149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108960" y="5111496"/>
            <a:ext cx="8503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Blue/green Lambda deploys with auto-rollback on error-rate breach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 TO TRANSFORM YOUR CLINIC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Tiryaq is deployed.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Audited. Production-tested.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80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 for your network.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731520" y="4572000"/>
            <a:ext cx="109728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754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PILOT 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50292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 DAYS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434840" y="4754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34840" y="50292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 DAYS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138160" y="4754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NATIONAL SCALE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38160" y="50292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 MONTHS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31520" y="59893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us run a private demo on your clinic’s data.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63093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partnerships@akwadona.com   ·   akwadona.com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Tiryaq — Enterprise Hospital Platform</dc:title>
  <dc:subject>PptxGenJS Presentation</dc:subject>
  <dc:creator>Akwadona Health Systems</dc:creator>
  <cp:lastModifiedBy>Akwadona Health Systems</cp:lastModifiedBy>
  <cp:revision>1</cp:revision>
  <dcterms:created xsi:type="dcterms:W3CDTF">2026-05-18T04:39:29Z</dcterms:created>
  <dcterms:modified xsi:type="dcterms:W3CDTF">2026-05-18T04:39:29Z</dcterms:modified>
</cp:coreProperties>
</file>